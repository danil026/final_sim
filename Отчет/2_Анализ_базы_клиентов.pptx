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326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36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687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096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642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83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1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89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42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20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64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D7E081E-363E-49EB-942B-EA91F4C1E6B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5448A7C-85E5-41F1-A210-85ECC5968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30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CCFB8-E461-43BB-BB9D-E7D3B1BE3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22731"/>
          </a:xfrm>
        </p:spPr>
        <p:txBody>
          <a:bodyPr>
            <a:normAutofit/>
          </a:bodyPr>
          <a:lstStyle/>
          <a:p>
            <a:r>
              <a:rPr lang="ru-RU" sz="3200" dirty="0"/>
              <a:t>Анализ клиентской базы аптечной 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51E7D2-EDF9-47D4-91DB-D16B65B43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40528"/>
            <a:ext cx="10058400" cy="4831672"/>
          </a:xfrm>
        </p:spPr>
        <p:txBody>
          <a:bodyPr/>
          <a:lstStyle/>
          <a:p>
            <a:r>
              <a:rPr lang="ru-RU" dirty="0"/>
              <a:t>Цель исследования: выявить клиентов которые приносят большую часть выручки, определить наиболее оптимальные категории клиентов которые нуждаются в стимуляции покупок</a:t>
            </a:r>
          </a:p>
          <a:p>
            <a:r>
              <a:rPr lang="ru-RU" dirty="0"/>
              <a:t>Задачи исследования:</a:t>
            </a:r>
          </a:p>
          <a:p>
            <a:r>
              <a:rPr lang="ru-RU" dirty="0"/>
              <a:t>Провести расчет </a:t>
            </a:r>
            <a:r>
              <a:rPr lang="en-US" dirty="0"/>
              <a:t>LTV </a:t>
            </a:r>
            <a:r>
              <a:rPr lang="ru-RU" dirty="0"/>
              <a:t>и частотный анализ</a:t>
            </a:r>
          </a:p>
          <a:p>
            <a:r>
              <a:rPr lang="ru-RU" dirty="0"/>
              <a:t>Провести </a:t>
            </a:r>
            <a:r>
              <a:rPr lang="en-US" dirty="0"/>
              <a:t>RFM </a:t>
            </a:r>
            <a:r>
              <a:rPr lang="ru-RU" dirty="0"/>
              <a:t>анализ</a:t>
            </a:r>
          </a:p>
          <a:p>
            <a:r>
              <a:rPr lang="ru-RU" dirty="0"/>
              <a:t>Провести расчет </a:t>
            </a:r>
            <a:r>
              <a:rPr lang="en-US" dirty="0"/>
              <a:t>Retention (N-Month)</a:t>
            </a:r>
          </a:p>
          <a:p>
            <a:r>
              <a:rPr lang="ru-RU" dirty="0"/>
              <a:t>Сформировать общие рекомендации</a:t>
            </a:r>
          </a:p>
        </p:txBody>
      </p:sp>
    </p:spTree>
    <p:extLst>
      <p:ext uri="{BB962C8B-B14F-4D97-AF65-F5344CB8AC3E}">
        <p14:creationId xmlns:p14="http://schemas.microsoft.com/office/powerpoint/2010/main" val="281712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46196-3507-4D90-B1D7-9CB3C891D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503" y="248576"/>
            <a:ext cx="10058400" cy="491936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Расчет </a:t>
            </a:r>
            <a:r>
              <a:rPr lang="en-US" dirty="0"/>
              <a:t>LTV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D1EF34-1C91-43C6-89EC-EB0D5B5E57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790" y="1667849"/>
            <a:ext cx="6317208" cy="396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A5573F-A8AF-488F-8981-7CC9050C1F30}"/>
              </a:ext>
            </a:extLst>
          </p:cNvPr>
          <p:cNvSpPr txBox="1"/>
          <p:nvPr/>
        </p:nvSpPr>
        <p:spPr>
          <a:xfrm>
            <a:off x="219714" y="1430819"/>
            <a:ext cx="551007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i="0" dirty="0">
                <a:effectLst/>
                <a:latin typeface="-apple-system"/>
              </a:rPr>
              <a:t>Доминирование топ‑сегментов</a:t>
            </a:r>
            <a:endParaRPr lang="ru-RU" sz="1600" b="0" i="0" dirty="0">
              <a:effectLst/>
              <a:latin typeface="-apple-system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46,8 % LTV даёт группа 5 (2–5 млн руб.);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25,9 % — группа 6 (5–10 млн руб.);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всего 3 верхние группы (5–7) обеспечивают </a:t>
            </a:r>
            <a:r>
              <a:rPr lang="ru-RU" sz="1600" b="1" i="0" dirty="0">
                <a:effectLst/>
                <a:latin typeface="-apple-system"/>
              </a:rPr>
              <a:t>87,9 % LTV</a:t>
            </a:r>
            <a:r>
              <a:rPr lang="ru-RU" sz="1600" b="0" i="0" dirty="0">
                <a:effectLst/>
                <a:latin typeface="-apple-system"/>
              </a:rPr>
              <a:t>.</a:t>
            </a:r>
          </a:p>
          <a:p>
            <a:pPr algn="l"/>
            <a:r>
              <a:rPr lang="ru-RU" sz="1600" b="1" i="0" dirty="0" err="1">
                <a:effectLst/>
                <a:latin typeface="-apple-system"/>
              </a:rPr>
              <a:t>Низкоценные</a:t>
            </a:r>
            <a:r>
              <a:rPr lang="ru-RU" sz="1600" b="1" i="0" dirty="0">
                <a:effectLst/>
                <a:latin typeface="-apple-system"/>
              </a:rPr>
              <a:t> клиенты</a:t>
            </a:r>
            <a:endParaRPr lang="ru-RU" sz="1600" b="0" i="0" dirty="0">
              <a:effectLst/>
              <a:latin typeface="-apple-system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Группы 0–2 (LTV &lt; 500 тыс. руб.) дают </a:t>
            </a:r>
            <a:r>
              <a:rPr lang="ru-RU" sz="1600" b="1" i="0" dirty="0">
                <a:effectLst/>
                <a:latin typeface="-apple-system"/>
              </a:rPr>
              <a:t>менее 3 % LTV</a:t>
            </a:r>
            <a:r>
              <a:rPr lang="ru-RU" sz="1600" b="0" i="0" dirty="0">
                <a:effectLst/>
                <a:latin typeface="-apple-system"/>
              </a:rPr>
              <a:t>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большинство клиентов сосредоточено в малодоходных сегментах.</a:t>
            </a:r>
          </a:p>
          <a:p>
            <a:pPr algn="l"/>
            <a:r>
              <a:rPr lang="ru-RU" sz="1600" b="1" i="0" dirty="0">
                <a:effectLst/>
                <a:latin typeface="-apple-system"/>
              </a:rPr>
              <a:t>Ключевые пороги</a:t>
            </a:r>
            <a:endParaRPr lang="ru-RU" sz="1600" b="0" i="0" dirty="0">
              <a:effectLst/>
              <a:latin typeface="-apple-system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Критический скачок ценности — при переходе через </a:t>
            </a:r>
            <a:r>
              <a:rPr lang="ru-RU" sz="1600" b="1" i="0" dirty="0">
                <a:effectLst/>
                <a:latin typeface="-apple-system"/>
              </a:rPr>
              <a:t>2 млн руб.</a:t>
            </a:r>
            <a:r>
              <a:rPr lang="ru-RU" sz="1600" b="0" i="0" dirty="0">
                <a:effectLst/>
                <a:latin typeface="-apple-system"/>
              </a:rPr>
              <a:t> (группа 5);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Резкое падение доли после </a:t>
            </a:r>
            <a:r>
              <a:rPr lang="ru-RU" sz="1600" b="1" i="0" dirty="0">
                <a:effectLst/>
                <a:latin typeface="-apple-system"/>
              </a:rPr>
              <a:t>10 млн руб.</a:t>
            </a:r>
            <a:r>
              <a:rPr lang="ru-RU" sz="1600" b="0" i="0" dirty="0">
                <a:effectLst/>
                <a:latin typeface="-apple-system"/>
              </a:rPr>
              <a:t> (группы 7 → 8).</a:t>
            </a:r>
          </a:p>
          <a:p>
            <a:pPr algn="l"/>
            <a:r>
              <a:rPr lang="ru-RU" sz="1600" b="1" dirty="0">
                <a:latin typeface="-apple-system"/>
              </a:rPr>
              <a:t>Рекомендации</a:t>
            </a:r>
            <a:endParaRPr lang="ru-RU" sz="1600" b="0" i="0" dirty="0">
              <a:effectLst/>
              <a:latin typeface="-apple-system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Удерживать клиентов из групп 5–6 — они ядро прибыли;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Автоматизировать работу с группами 0–2;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1600" b="0" i="0" dirty="0">
                <a:effectLst/>
                <a:latin typeface="-apple-system"/>
              </a:rPr>
              <a:t>Изучить драйверы успеха клиентов в группах 7–8.</a:t>
            </a:r>
          </a:p>
        </p:txBody>
      </p:sp>
    </p:spTree>
    <p:extLst>
      <p:ext uri="{BB962C8B-B14F-4D97-AF65-F5344CB8AC3E}">
        <p14:creationId xmlns:p14="http://schemas.microsoft.com/office/powerpoint/2010/main" val="267253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1983E-5C09-40B7-8C67-409F39CB0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00765"/>
            <a:ext cx="10058400" cy="323236"/>
          </a:xfrm>
        </p:spPr>
        <p:txBody>
          <a:bodyPr>
            <a:noAutofit/>
          </a:bodyPr>
          <a:lstStyle/>
          <a:p>
            <a:r>
              <a:rPr lang="ru-RU" sz="3600" dirty="0"/>
              <a:t>Частота покупок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DE0D1F-FA70-4417-AB1F-580595271D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35" y="3817398"/>
            <a:ext cx="4664953" cy="246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05DDF55-CBEA-42EA-838D-85322D88A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35" y="677354"/>
            <a:ext cx="7399801" cy="314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90BF15-05C8-4A5C-BCFF-917D87984A54}"/>
              </a:ext>
            </a:extLst>
          </p:cNvPr>
          <p:cNvSpPr txBox="1"/>
          <p:nvPr/>
        </p:nvSpPr>
        <p:spPr>
          <a:xfrm>
            <a:off x="353364" y="1001943"/>
            <a:ext cx="408547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/>
              <a:t>Низкая лояльность клиентов</a:t>
            </a:r>
          </a:p>
          <a:p>
            <a:r>
              <a:rPr lang="ru-RU" sz="1200" dirty="0"/>
              <a:t>Средний клиент делает всего 2,3 заказа — большинство не возвращаются после 1–3 покупок.</a:t>
            </a:r>
          </a:p>
          <a:p>
            <a:r>
              <a:rPr lang="ru-RU" sz="1200" dirty="0"/>
              <a:t>Клиенты с &gt;5 заказов — редкая группа (единицы процентов).</a:t>
            </a:r>
          </a:p>
          <a:p>
            <a:r>
              <a:rPr lang="ru-RU" sz="1200" b="1" dirty="0"/>
              <a:t>Долгие перерывы между покупками</a:t>
            </a:r>
          </a:p>
          <a:p>
            <a:r>
              <a:rPr lang="ru-RU" sz="1200" dirty="0"/>
              <a:t>В среднем 85,7 дней (почти 3 месяца) между заказами — признак: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нерегулярного спроса;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слабой вовлечённости;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недостатка стимулов для повторных покупок.</a:t>
            </a:r>
          </a:p>
          <a:p>
            <a:r>
              <a:rPr lang="ru-RU" sz="1200" b="1" dirty="0"/>
              <a:t>Ключевые риски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Выручка зависит от привлечения новых клиентов, а не от повторных продаж.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Высокий риск оттока из‑за долгих пауз.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Слабая работа кросс‑продаж и программ лояльности.</a:t>
            </a:r>
          </a:p>
          <a:p>
            <a:r>
              <a:rPr lang="ru-RU" sz="1200" b="1" dirty="0"/>
              <a:t>Рекомендации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Запустить программу лояльности (бонусы за 3‑й/4‑й заказ).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Внедрить регулярные рассылки за 2–3 недели до среднего срока повторной покупки.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Выделить «ядровых» клиентов (&gt;5 заказов) и предложить им VIP‑условия.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Проанализировать причины однократных покупок (опросы, аудит сервиса).</a:t>
            </a:r>
          </a:p>
          <a:p>
            <a:r>
              <a:rPr lang="ru-RU" sz="1200" b="1" i="1" dirty="0"/>
              <a:t>Итог: нужно сместить фокус с привлечения на удержание — это может увеличить LTV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170CFC9-A686-45F9-BF32-521E73999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417" y="4130170"/>
            <a:ext cx="2593267" cy="184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73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2FF28-4F12-468F-B45E-67B87C290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17" y="283742"/>
            <a:ext cx="10058400" cy="493853"/>
          </a:xfrm>
        </p:spPr>
        <p:txBody>
          <a:bodyPr>
            <a:noAutofit/>
          </a:bodyPr>
          <a:lstStyle/>
          <a:p>
            <a:r>
              <a:rPr lang="en-US" sz="4000" dirty="0"/>
              <a:t>N-Month Retention</a:t>
            </a:r>
            <a:endParaRPr lang="ru-RU" sz="40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C4946AC-FD8C-464E-974A-ECB1279A28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860" y="1171853"/>
            <a:ext cx="6487140" cy="490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89A3D5-884B-4A89-872F-C9F0D2002EA4}"/>
              </a:ext>
            </a:extLst>
          </p:cNvPr>
          <p:cNvSpPr txBox="1"/>
          <p:nvPr/>
        </p:nvSpPr>
        <p:spPr>
          <a:xfrm>
            <a:off x="158536" y="1361004"/>
            <a:ext cx="55463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i="0" dirty="0">
                <a:effectLst/>
                <a:latin typeface="-apple-system"/>
              </a:rPr>
              <a:t>Анализ удержания клиентов (</a:t>
            </a:r>
            <a:r>
              <a:rPr lang="ru-RU" sz="1600" b="1" i="0" dirty="0" err="1">
                <a:effectLst/>
                <a:latin typeface="-apple-system"/>
              </a:rPr>
              <a:t>retention</a:t>
            </a:r>
            <a:r>
              <a:rPr lang="ru-RU" sz="1600" b="1" i="0" dirty="0">
                <a:effectLst/>
                <a:latin typeface="-apple-system"/>
              </a:rPr>
              <a:t>)</a:t>
            </a:r>
            <a:endParaRPr lang="ru-RU" sz="1600" b="0" i="0" dirty="0"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effectLst/>
                <a:latin typeface="-apple-system"/>
              </a:rPr>
              <a:t>Первый месяц:</a:t>
            </a:r>
            <a:r>
              <a:rPr lang="ru-RU" sz="1600" b="0" i="0" dirty="0">
                <a:effectLst/>
                <a:latin typeface="-apple-system"/>
              </a:rPr>
              <a:t> критический отток — </a:t>
            </a:r>
            <a:r>
              <a:rPr lang="ru-RU" sz="1600" b="1" i="0" dirty="0">
                <a:effectLst/>
                <a:latin typeface="-apple-system"/>
              </a:rPr>
              <a:t>92–93%</a:t>
            </a:r>
            <a:r>
              <a:rPr lang="ru-RU" sz="1600" b="0" i="0" dirty="0">
                <a:effectLst/>
                <a:latin typeface="-apple-system"/>
              </a:rPr>
              <a:t> клиентов уходят после первой покупки, остаётся лишь </a:t>
            </a:r>
            <a:r>
              <a:rPr lang="ru-RU" sz="1600" b="1" i="0" dirty="0">
                <a:effectLst/>
                <a:latin typeface="-apple-system"/>
              </a:rPr>
              <a:t>7–8%</a:t>
            </a:r>
            <a:r>
              <a:rPr lang="ru-RU" sz="1600" b="0" i="0" dirty="0">
                <a:effectLst/>
                <a:latin typeface="-apple-system"/>
              </a:rPr>
              <a:t> от исходной когорты.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effectLst/>
                <a:latin typeface="-apple-system"/>
              </a:rPr>
              <a:t>Месяцы 2–12 (среднегодовой </a:t>
            </a:r>
            <a:r>
              <a:rPr lang="ru-RU" sz="1600" b="1" i="0" dirty="0" err="1">
                <a:effectLst/>
                <a:latin typeface="-apple-system"/>
              </a:rPr>
              <a:t>retention</a:t>
            </a:r>
            <a:r>
              <a:rPr lang="ru-RU" sz="1600" b="1" i="0" dirty="0">
                <a:effectLst/>
                <a:latin typeface="-apple-system"/>
              </a:rPr>
              <a:t>):</a:t>
            </a:r>
            <a:r>
              <a:rPr lang="ru-RU" sz="1600" b="0" i="0" dirty="0">
                <a:effectLst/>
                <a:latin typeface="-apple-system"/>
              </a:rPr>
              <a:t> удержание на уровне </a:t>
            </a:r>
            <a:r>
              <a:rPr lang="ru-RU" sz="1600" b="1" i="0" dirty="0">
                <a:effectLst/>
                <a:latin typeface="-apple-system"/>
              </a:rPr>
              <a:t>12–18%</a:t>
            </a:r>
            <a:r>
              <a:rPr lang="ru-RU" sz="1600" b="0" i="0" dirty="0">
                <a:effectLst/>
                <a:latin typeface="-apple-system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effectLst/>
                <a:latin typeface="-apple-system"/>
              </a:rPr>
              <a:t>Годовой </a:t>
            </a:r>
            <a:r>
              <a:rPr lang="ru-RU" sz="1600" b="1" i="0" dirty="0" err="1">
                <a:effectLst/>
                <a:latin typeface="-apple-system"/>
              </a:rPr>
              <a:t>retention</a:t>
            </a:r>
            <a:r>
              <a:rPr lang="ru-RU" sz="1600" b="1" i="0" dirty="0">
                <a:effectLst/>
                <a:latin typeface="-apple-system"/>
              </a:rPr>
              <a:t>:</a:t>
            </a:r>
            <a:r>
              <a:rPr lang="ru-RU" sz="1600" b="0" i="0" dirty="0">
                <a:effectLst/>
                <a:latin typeface="-apple-system"/>
              </a:rPr>
              <a:t> разброс от </a:t>
            </a:r>
            <a:r>
              <a:rPr lang="ru-RU" sz="1600" b="1" i="0" dirty="0">
                <a:effectLst/>
                <a:latin typeface="-apple-system"/>
              </a:rPr>
              <a:t>8,5%</a:t>
            </a:r>
            <a:r>
              <a:rPr lang="ru-RU" sz="1600" b="0" i="0" dirty="0">
                <a:effectLst/>
                <a:latin typeface="-apple-system"/>
              </a:rPr>
              <a:t> (поздние когорты) до </a:t>
            </a:r>
            <a:r>
              <a:rPr lang="ru-RU" sz="1600" b="1" i="0" dirty="0">
                <a:effectLst/>
                <a:latin typeface="-apple-system"/>
              </a:rPr>
              <a:t>86,1%</a:t>
            </a:r>
            <a:r>
              <a:rPr lang="ru-RU" sz="1600" b="0" i="0" dirty="0">
                <a:effectLst/>
                <a:latin typeface="-apple-system"/>
              </a:rPr>
              <a:t> (ранние когорты). Тенденция: чем позже сформирована когорта, тем ниже активность.</a:t>
            </a:r>
          </a:p>
          <a:p>
            <a:pPr algn="l"/>
            <a:r>
              <a:rPr lang="ru-RU" sz="1600" b="1" i="0" dirty="0">
                <a:effectLst/>
                <a:latin typeface="-apple-system"/>
              </a:rPr>
              <a:t>Ключевые выводы</a:t>
            </a:r>
            <a:endParaRPr lang="ru-RU" sz="1600" b="0" i="0" dirty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  <a:latin typeface="-apple-system"/>
              </a:rPr>
              <a:t>Главная проблема бизнеса</a:t>
            </a:r>
            <a:r>
              <a:rPr lang="ru-RU" sz="1600" b="0" i="0" dirty="0">
                <a:effectLst/>
                <a:latin typeface="-apple-system"/>
              </a:rPr>
              <a:t> — критически высокий отток клиентов в первый месяц взаимодействия.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  <a:latin typeface="-apple-system"/>
              </a:rPr>
              <a:t>Среднесрочный показатель удержания</a:t>
            </a:r>
            <a:r>
              <a:rPr lang="ru-RU" sz="1600" b="0" i="0" dirty="0">
                <a:effectLst/>
                <a:latin typeface="-apple-system"/>
              </a:rPr>
              <a:t> (месяцы 2–12) находится на уровне </a:t>
            </a:r>
            <a:r>
              <a:rPr lang="ru-RU" sz="1600" b="1" i="0" dirty="0">
                <a:effectLst/>
                <a:latin typeface="-apple-system"/>
              </a:rPr>
              <a:t>12–18%</a:t>
            </a:r>
            <a:r>
              <a:rPr lang="ru-RU" sz="1600" b="0" i="0" dirty="0">
                <a:effectLst/>
                <a:latin typeface="-apple-system"/>
              </a:rPr>
              <a:t>, что требует оптимизации.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  <a:latin typeface="-apple-system"/>
              </a:rPr>
              <a:t>Годовая активность</a:t>
            </a:r>
            <a:r>
              <a:rPr lang="ru-RU" sz="1600" b="0" i="0" dirty="0">
                <a:effectLst/>
                <a:latin typeface="-apple-system"/>
              </a:rPr>
              <a:t> в пике достигает 86% </a:t>
            </a:r>
          </a:p>
        </p:txBody>
      </p:sp>
    </p:spTree>
    <p:extLst>
      <p:ext uri="{BB962C8B-B14F-4D97-AF65-F5344CB8AC3E}">
        <p14:creationId xmlns:p14="http://schemas.microsoft.com/office/powerpoint/2010/main" val="3277011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F1C98-5294-4F53-97DF-27E50E13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2" y="209425"/>
            <a:ext cx="10058400" cy="46527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RFM </a:t>
            </a:r>
            <a:r>
              <a:rPr lang="ru-RU" sz="4000" dirty="0"/>
              <a:t>Анализ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D76FECE-C70B-462C-9928-CB91B0C337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35" y="599244"/>
            <a:ext cx="10545193" cy="302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1D277D-7F30-48A9-B818-4588EEB77D32}"/>
              </a:ext>
            </a:extLst>
          </p:cNvPr>
          <p:cNvSpPr txBox="1"/>
          <p:nvPr/>
        </p:nvSpPr>
        <p:spPr>
          <a:xfrm>
            <a:off x="337351" y="3551069"/>
            <a:ext cx="1185464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Ядро бизнеса — сегменты 111 (126 472), 112 (76 297), 211 (74 637). Это самые ценные клиенты: частые покупки, высокие чеки, недавняя активность. Требуют приоритетного внимания.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Перспективные группы — 333 (60 555) и 212 (56 471). Клиенты с хорошим потенциалом: можно перевести в топ‑сегменты через стимулирование повторных покупок.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err="1"/>
              <a:t>Низкоактивные</a:t>
            </a:r>
            <a:r>
              <a:rPr lang="ru-RU" sz="1400" dirty="0"/>
              <a:t> клиенты — сегменты типа 131 (586), 231 (2 103), 331 (3 094). Минимальная ценность: редкие покупки, малые чеки, давность. Оптимально — минимизировать затраты на взаимодействие.</a:t>
            </a:r>
          </a:p>
          <a:p>
            <a:endParaRPr lang="ru-RU" sz="1400" dirty="0"/>
          </a:p>
          <a:p>
            <a:r>
              <a:rPr lang="ru-RU" sz="1400" dirty="0"/>
              <a:t>Ключевая стратегия: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фокусироваться на удержании топ‑3 сегментов;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развивать перспективные группы (333, 212);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сократить ресурсы на </a:t>
            </a:r>
            <a:r>
              <a:rPr lang="ru-RU" sz="1400" dirty="0" err="1"/>
              <a:t>низкоактивных</a:t>
            </a:r>
            <a:r>
              <a:rPr lang="ru-RU" sz="1400" dirty="0"/>
              <a:t> клиентов.</a:t>
            </a:r>
          </a:p>
          <a:p>
            <a:endParaRPr lang="ru-RU" sz="1400" dirty="0"/>
          </a:p>
          <a:p>
            <a:r>
              <a:rPr lang="ru-RU" sz="1400" dirty="0"/>
              <a:t>Итог: 20 % сегментов дают ~80 % ценности. Нужно удерживать лидеров и прокачивать потенциал средних групп.</a:t>
            </a:r>
          </a:p>
        </p:txBody>
      </p:sp>
    </p:spTree>
    <p:extLst>
      <p:ext uri="{BB962C8B-B14F-4D97-AF65-F5344CB8AC3E}">
        <p14:creationId xmlns:p14="http://schemas.microsoft.com/office/powerpoint/2010/main" val="1131271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D05F7-2A07-49AF-B88D-3256D311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964"/>
            <a:ext cx="10058400" cy="33983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Общие рекомендации: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FDE9F8-2B29-4539-8091-582398BD3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91" y="515882"/>
            <a:ext cx="10058400" cy="5089124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b="1" dirty="0"/>
              <a:t>1. Удержание и развитие высокоценных клиентов (группы 5–7, RFM‑сегменты 111/112/211).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i="1" dirty="0"/>
              <a:t>Цель: максимизировать LTV ядра клиентской базы.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Рекомендации: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 • Разработать программы лояльности с начислением бонусов за каждые 3–4 покупки и возможностью обмена на премиум‑услуги.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 Внедрить систему прогнозирования оттока для группы 7 (LTV &gt; 10 млн руб.) с предложением «спасательных» акций при снижении частоты покупок.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b="1" dirty="0"/>
              <a:t>2. Активация перспективных сегментов (группа 3–4, RFM‑сегменты 333/212)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i="1" dirty="0"/>
              <a:t>Цель: перевести клиентов в высокоценные группы.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Рекомендации: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•Настроить триггерные рассылки за 2–3 недели до среднего срока повторной покупки (85 дней).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•Реализовать механизм кросс‑продаж — рекомендовать сопутствующие товары на основе истории заказов.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•Ввести ограниченные по времени бонусные предложения (например, начисление дополнительных баллов за покупку в заданный период).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b="1" dirty="0"/>
              <a:t>3. Оптимизация работы с </a:t>
            </a:r>
            <a:r>
              <a:rPr lang="ru-RU" sz="5600" b="1" dirty="0" err="1"/>
              <a:t>низкоценными</a:t>
            </a:r>
            <a:r>
              <a:rPr lang="ru-RU" sz="5600" b="1" dirty="0"/>
              <a:t> клиентами (группы 0–2, RFM‑сегменты 131/231/331)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i="1" dirty="0"/>
              <a:t>Цель: снизить затраты на взаимодействие без потери репутации.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Рекомендации: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•Перевести коммуникации на автоматизированные каналы (шаблонные </a:t>
            </a:r>
            <a:r>
              <a:rPr lang="ru-RU" sz="5600" dirty="0" err="1"/>
              <a:t>email</a:t>
            </a:r>
            <a:r>
              <a:rPr lang="ru-RU" sz="5600" dirty="0"/>
              <a:t>‑рассылки с общими акциями).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•Внедрить селективный подход: выделять подгруппы с признаками роста (например, клиенты, совершившие 2 покупки за 3 месяца).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b="1" dirty="0"/>
              <a:t>4. Снижение оттока на ранних этапах (первый месяц)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i="1" dirty="0"/>
              <a:t>Цель: увеличить </a:t>
            </a:r>
            <a:r>
              <a:rPr lang="ru-RU" sz="5600" i="1" dirty="0" err="1"/>
              <a:t>retention</a:t>
            </a:r>
            <a:r>
              <a:rPr lang="ru-RU" sz="5600" i="1" dirty="0"/>
              <a:t> с 7–8 % до 15–20 %.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Рекомендации: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•Запустить </a:t>
            </a:r>
            <a:r>
              <a:rPr lang="ru-RU" sz="5600" dirty="0" err="1"/>
              <a:t>welcome</a:t>
            </a:r>
            <a:r>
              <a:rPr lang="ru-RU" sz="5600" dirty="0"/>
              <a:t>‑серию из 3 писем в первые 14 дней после первой покупки: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•предложение скидки на следующий заказ с ограниченным сроком действия.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•Настроить реактивацию клиентов без покупок &gt; 45 дней (персонализированные предложения).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b="1" dirty="0"/>
              <a:t>5. Повышение частоты покупок (сокращение перерывов в 85 дней)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i="1" dirty="0"/>
              <a:t>Цель: сократить средний интервал между заказами до 45–60 дней.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Рекомендации: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•Разработать систему уровней лояльности («Бронза → Серебро → Золото») с ростом привилегий.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5600" dirty="0"/>
              <a:t>    •Запланировать A/B‑тестирование гипотез (например, влияние повышенного </a:t>
            </a:r>
            <a:r>
              <a:rPr lang="ru-RU" sz="5600" dirty="0" err="1"/>
              <a:t>кэшбэка</a:t>
            </a:r>
            <a:r>
              <a:rPr lang="ru-RU" sz="5600" dirty="0"/>
              <a:t> на повторные покупки)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6519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220</TotalTime>
  <Words>897</Words>
  <Application>Microsoft Office PowerPoint</Application>
  <PresentationFormat>Широкоэкранный</PresentationFormat>
  <Paragraphs>89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Cambria</vt:lpstr>
      <vt:lpstr>Rockwell</vt:lpstr>
      <vt:lpstr>Rockwell Condensed</vt:lpstr>
      <vt:lpstr>Wingdings</vt:lpstr>
      <vt:lpstr>Дерево</vt:lpstr>
      <vt:lpstr>Анализ клиентской базы аптечной сети</vt:lpstr>
      <vt:lpstr>Расчет LTV</vt:lpstr>
      <vt:lpstr>Частота покупок</vt:lpstr>
      <vt:lpstr>N-Month Retention</vt:lpstr>
      <vt:lpstr>RFM Анализ</vt:lpstr>
      <vt:lpstr>Общие рекомендации: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6</cp:revision>
  <dcterms:created xsi:type="dcterms:W3CDTF">2026-01-10T19:53:13Z</dcterms:created>
  <dcterms:modified xsi:type="dcterms:W3CDTF">2026-01-11T14:11:12Z</dcterms:modified>
</cp:coreProperties>
</file>