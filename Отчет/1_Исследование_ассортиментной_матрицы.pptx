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08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18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79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61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3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03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61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84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27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0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89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7F16267-9DBE-4729-9FA0-7010B77BAC21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78DB98F-B549-43EC-9101-AA2976E06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07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310BD-0F63-43D7-B75D-8D4616F6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60083"/>
          </a:xfrm>
        </p:spPr>
        <p:txBody>
          <a:bodyPr>
            <a:normAutofit/>
          </a:bodyPr>
          <a:lstStyle/>
          <a:p>
            <a:r>
              <a:rPr lang="ru-RU" sz="3200" dirty="0"/>
              <a:t>Анализ</a:t>
            </a:r>
            <a:r>
              <a:rPr lang="ru-RU" sz="2800" dirty="0"/>
              <a:t> ассортиментной матрицы аптечной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F788A5-2D70-4660-B0B3-6A065B5B9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316" y="1642014"/>
            <a:ext cx="10058400" cy="4050792"/>
          </a:xfrm>
        </p:spPr>
        <p:txBody>
          <a:bodyPr/>
          <a:lstStyle/>
          <a:p>
            <a:r>
              <a:rPr lang="ru-RU" dirty="0"/>
              <a:t>Цель: Исследовать продажи за 2023 год для выявления точек роста и оптимизации</a:t>
            </a:r>
          </a:p>
          <a:p>
            <a:r>
              <a:rPr lang="ru-RU" dirty="0"/>
              <a:t>Задачи:</a:t>
            </a:r>
          </a:p>
          <a:p>
            <a:pPr marL="731520" lvl="1" indent="-457200">
              <a:buFont typeface="+mj-lt"/>
              <a:buAutoNum type="arabicPeriod"/>
            </a:pPr>
            <a:r>
              <a:rPr lang="ru-RU" sz="2000" dirty="0"/>
              <a:t>Проведение </a:t>
            </a:r>
            <a:r>
              <a:rPr lang="en-US" sz="2000" dirty="0"/>
              <a:t>ABC </a:t>
            </a:r>
            <a:r>
              <a:rPr lang="ru-RU" sz="2000" dirty="0"/>
              <a:t>анализа</a:t>
            </a:r>
          </a:p>
          <a:p>
            <a:pPr marL="731520" lvl="1" indent="-457200">
              <a:buFont typeface="+mj-lt"/>
              <a:buAutoNum type="arabicPeriod"/>
            </a:pPr>
            <a:r>
              <a:rPr lang="ru-RU" sz="2000" dirty="0"/>
              <a:t>Проведение </a:t>
            </a:r>
            <a:r>
              <a:rPr lang="en-US" sz="2000" dirty="0"/>
              <a:t>XYZ </a:t>
            </a:r>
            <a:r>
              <a:rPr lang="ru-RU" sz="2000" dirty="0"/>
              <a:t>анализа</a:t>
            </a:r>
          </a:p>
          <a:p>
            <a:pPr marL="731520" lvl="1" indent="-457200">
              <a:buFont typeface="+mj-lt"/>
              <a:buAutoNum type="arabicPeriod"/>
            </a:pPr>
            <a:r>
              <a:rPr lang="ru-RU" sz="2000" dirty="0"/>
              <a:t>Расчет влияния размера скидки на продажи</a:t>
            </a:r>
          </a:p>
          <a:p>
            <a:pPr marL="731520" lvl="1" indent="-457200">
              <a:buFont typeface="+mj-lt"/>
              <a:buAutoNum type="arabicPeriod"/>
            </a:pPr>
            <a:r>
              <a:rPr lang="ru-RU" sz="2000" dirty="0"/>
              <a:t>Сформировать общие рекомендации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319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AE445-3718-4BB0-B160-8309351E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метрики</a:t>
            </a:r>
            <a:r>
              <a:rPr lang="en-US" dirty="0"/>
              <a:t> </a:t>
            </a:r>
            <a:r>
              <a:rPr lang="ru-RU" dirty="0"/>
              <a:t>за 2023 год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A373D-FC15-4EAC-96DE-2BF6D5F7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Общее количество ассортимента : 50 000 шт.</a:t>
            </a:r>
          </a:p>
          <a:p>
            <a:r>
              <a:rPr lang="ru-RU" dirty="0"/>
              <a:t>Количество транзакций: 2 039 879</a:t>
            </a:r>
          </a:p>
          <a:p>
            <a:r>
              <a:rPr lang="ru-RU" dirty="0"/>
              <a:t>Общая сумма продаж : 1 674 565 983 847 р.</a:t>
            </a:r>
          </a:p>
          <a:p>
            <a:r>
              <a:rPr lang="ru-RU" dirty="0"/>
              <a:t>Средний размер скидки: 50%</a:t>
            </a:r>
          </a:p>
          <a:p>
            <a:r>
              <a:rPr lang="ru-RU" dirty="0"/>
              <a:t>Средний чек: 823 661</a:t>
            </a:r>
          </a:p>
          <a:p>
            <a:r>
              <a:rPr lang="ru-RU" dirty="0"/>
              <a:t>Средний размер суммы продаж на товар: 25 003 р.</a:t>
            </a:r>
          </a:p>
          <a:p>
            <a:r>
              <a:rPr lang="ru-RU" dirty="0"/>
              <a:t>Среднее количество проданных товаров в день :</a:t>
            </a:r>
            <a:r>
              <a:rPr lang="en-US" dirty="0"/>
              <a:t> 184 300 </a:t>
            </a:r>
            <a:r>
              <a:rPr lang="ru-RU" dirty="0" err="1"/>
              <a:t>шт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Средняя сумма продаж в день: 4 587 852 010 р.</a:t>
            </a:r>
            <a:endParaRPr lang="en-US" dirty="0"/>
          </a:p>
          <a:p>
            <a:endParaRPr lang="ru-RU" b="1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72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72215-2895-471E-AF15-75D93FC6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146" y="459645"/>
            <a:ext cx="10058400" cy="491912"/>
          </a:xfrm>
        </p:spPr>
        <p:txBody>
          <a:bodyPr>
            <a:normAutofit fontScale="90000"/>
          </a:bodyPr>
          <a:lstStyle/>
          <a:p>
            <a:r>
              <a:rPr lang="en-US" dirty="0"/>
              <a:t>ABC </a:t>
            </a:r>
            <a:r>
              <a:rPr lang="ru-RU" dirty="0"/>
              <a:t>Анализ по выручке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83CDA3-5EDF-4B66-BD44-01680CAB47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056" y="1080286"/>
            <a:ext cx="4665357" cy="379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036C3-602C-4574-8ECD-F9DBE013E5E8}"/>
              </a:ext>
            </a:extLst>
          </p:cNvPr>
          <p:cNvSpPr txBox="1"/>
          <p:nvPr/>
        </p:nvSpPr>
        <p:spPr>
          <a:xfrm>
            <a:off x="284427" y="1559680"/>
            <a:ext cx="6722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	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Проведенный анализ структуры выручки демонстрирует существенное отклонение от принципа Парето. </a:t>
            </a:r>
            <a:endParaRPr lang="en-US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just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	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Существующая модель показывает, что для получения 80% дохода необходимо задействовать свыше половины всего ассортимента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(53,4%)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, при этом четверть товаров обеспечивает менее половины общего объема продаж.</a:t>
            </a:r>
          </a:p>
          <a:p>
            <a:pPr algn="just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	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Данная ситуация указывает на проблематичную структуру ассортимента: множество товарных позиций вносят сопоставимый вклад в выручку, отсутствуют ярко выраженные бестселлеры, а ресурсы распределяются нерационально.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	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Наблюдается дисбаланс спроса и избыточное присутствие средне и малорентабельных товаров.</a:t>
            </a:r>
          </a:p>
          <a:p>
            <a:pPr algn="just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	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Требуется корректировка ассортиментной стратегии с целью усиления фокуса на наиболее прибыльных товарных категориях.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90E52-B195-4618-8706-66B131DAB9ED}"/>
              </a:ext>
            </a:extLst>
          </p:cNvPr>
          <p:cNvSpPr txBox="1"/>
          <p:nvPr/>
        </p:nvSpPr>
        <p:spPr>
          <a:xfrm>
            <a:off x="7794338" y="4890806"/>
            <a:ext cx="369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ABC	absolute	     proportion</a:t>
            </a:r>
          </a:p>
          <a:p>
            <a:r>
              <a:rPr lang="en-US" dirty="0"/>
              <a:t>	A	26996	     0.53992</a:t>
            </a:r>
          </a:p>
          <a:p>
            <a:r>
              <a:rPr lang="en-US" dirty="0"/>
              <a:t>	B	11509	     0.23018</a:t>
            </a:r>
          </a:p>
          <a:p>
            <a:r>
              <a:rPr lang="en-US" dirty="0"/>
              <a:t>	</a:t>
            </a:r>
            <a:r>
              <a:rPr lang="ru-RU" dirty="0"/>
              <a:t>С	11495	</a:t>
            </a:r>
            <a:r>
              <a:rPr lang="en-US" dirty="0"/>
              <a:t>     </a:t>
            </a:r>
            <a:r>
              <a:rPr lang="ru-RU" dirty="0"/>
              <a:t>0.22990</a:t>
            </a:r>
          </a:p>
        </p:txBody>
      </p:sp>
    </p:spTree>
    <p:extLst>
      <p:ext uri="{BB962C8B-B14F-4D97-AF65-F5344CB8AC3E}">
        <p14:creationId xmlns:p14="http://schemas.microsoft.com/office/powerpoint/2010/main" val="359710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2DB3-1978-4232-A4EF-4929C181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86578"/>
            <a:ext cx="10058400" cy="598444"/>
          </a:xfrm>
        </p:spPr>
        <p:txBody>
          <a:bodyPr>
            <a:normAutofit fontScale="90000"/>
          </a:bodyPr>
          <a:lstStyle/>
          <a:p>
            <a:r>
              <a:rPr lang="en-US" dirty="0"/>
              <a:t>XYZ </a:t>
            </a:r>
            <a:r>
              <a:rPr lang="ru-RU" dirty="0"/>
              <a:t>Анализ по количеству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C09E79-A018-4EF4-ABC7-6CA05EC836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749" y="1181130"/>
            <a:ext cx="565376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79AE22-0728-45CF-B822-96290503EFF0}"/>
              </a:ext>
            </a:extLst>
          </p:cNvPr>
          <p:cNvSpPr txBox="1"/>
          <p:nvPr/>
        </p:nvSpPr>
        <p:spPr>
          <a:xfrm>
            <a:off x="6891291" y="4610130"/>
            <a:ext cx="45697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Распределение по категориям XYZ:</a:t>
            </a:r>
          </a:p>
          <a:p>
            <a:r>
              <a:rPr lang="ru-RU" dirty="0"/>
              <a:t>  </a:t>
            </a:r>
            <a:r>
              <a:rPr lang="ru-RU" dirty="0" err="1"/>
              <a:t>xyz</a:t>
            </a:r>
            <a:r>
              <a:rPr lang="ru-RU" dirty="0"/>
              <a:t>  </a:t>
            </a:r>
            <a:r>
              <a:rPr lang="ru-RU" dirty="0" err="1"/>
              <a:t>absolute</a:t>
            </a:r>
            <a:r>
              <a:rPr lang="ru-RU" dirty="0"/>
              <a:t>  </a:t>
            </a:r>
            <a:r>
              <a:rPr lang="ru-RU" dirty="0" err="1"/>
              <a:t>proportion</a:t>
            </a:r>
            <a:endParaRPr lang="ru-RU" dirty="0"/>
          </a:p>
          <a:p>
            <a:r>
              <a:rPr lang="ru-RU" dirty="0"/>
              <a:t>   X      4687     0.09374</a:t>
            </a:r>
          </a:p>
          <a:p>
            <a:r>
              <a:rPr lang="ru-RU" dirty="0"/>
              <a:t>   Y     42293    0.84586</a:t>
            </a:r>
          </a:p>
          <a:p>
            <a:r>
              <a:rPr lang="ru-RU" dirty="0"/>
              <a:t>   Z      3020     0.06040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A40E6-3A70-46EA-A2B7-75BC87793BB9}"/>
              </a:ext>
            </a:extLst>
          </p:cNvPr>
          <p:cNvSpPr txBox="1"/>
          <p:nvPr/>
        </p:nvSpPr>
        <p:spPr>
          <a:xfrm>
            <a:off x="345489" y="1712390"/>
            <a:ext cx="5750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Проведённый анализ коэффициента вариации (CV) выявил следующее распределение ассортимента: ~10% товаров относятся к стабильной группе X (CV ≤ 0,45) со стабильным спросом, </a:t>
            </a:r>
          </a:p>
          <a:p>
            <a:pPr algn="just"/>
            <a:r>
              <a:rPr lang="ru-RU" dirty="0"/>
              <a:t>85% составляют группу Y (0,45 &lt; CV ≤ 0,85) с умеренной волатильностью, </a:t>
            </a:r>
          </a:p>
          <a:p>
            <a:pPr algn="just"/>
            <a:r>
              <a:rPr lang="ru-RU" dirty="0"/>
              <a:t>а 6% входят в группу Z (CV &gt; 0,85) с высокой нестабильностью продаж; гистограмма подтверждает корректность границ сегментов с пиком в области CV = 0,6, что позволяет выстроить эффективную систему управления: автоматизированное планирование для группы X, адаптивное управление для доминирующей группы Y и индивидуальный подход к группе Z, обеспечивая оптимальный баланс между стабильными и волатильными позициями в ассортименте.</a:t>
            </a:r>
          </a:p>
        </p:txBody>
      </p:sp>
    </p:spTree>
    <p:extLst>
      <p:ext uri="{BB962C8B-B14F-4D97-AF65-F5344CB8AC3E}">
        <p14:creationId xmlns:p14="http://schemas.microsoft.com/office/powerpoint/2010/main" val="293710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620F6-6570-48B3-90B1-55D28C56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7018"/>
          </a:xfrm>
        </p:spPr>
        <p:txBody>
          <a:bodyPr>
            <a:normAutofit/>
          </a:bodyPr>
          <a:lstStyle/>
          <a:p>
            <a:r>
              <a:rPr lang="ru-RU" sz="4400" dirty="0"/>
              <a:t>Корреляция скидки и спроса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96527-010C-4CD9-A602-26BBF321D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47" y="1699273"/>
            <a:ext cx="4283298" cy="4060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Результаты анализа:</a:t>
            </a:r>
          </a:p>
          <a:p>
            <a:r>
              <a:rPr lang="ru-RU" dirty="0"/>
              <a:t>У большинства товаров корреляция между скидкой и спросом близка к нулю — скидки не стимулируют продажи.</a:t>
            </a:r>
          </a:p>
          <a:p>
            <a:r>
              <a:rPr lang="ru-RU" dirty="0"/>
              <a:t>Лишь отдельные позиции демонстрируют сильную положительную или отрицательную реакцию на изменение скидки.</a:t>
            </a:r>
          </a:p>
          <a:p>
            <a:pPr marL="0" indent="0">
              <a:buNone/>
            </a:pPr>
            <a:r>
              <a:rPr lang="ru-RU" dirty="0"/>
              <a:t>Рекомендации: целесообразно отказаться от массовых скидок и проводить точечные акции только для чувствительных к скидке товаров.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7F73E9C-4CEB-4E83-9E29-CD160F027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245" y="1455938"/>
            <a:ext cx="7108510" cy="430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2C5D5-1206-41A4-B22F-7771F4C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231203"/>
            <a:ext cx="10058400" cy="740486"/>
          </a:xfrm>
        </p:spPr>
        <p:txBody>
          <a:bodyPr>
            <a:normAutofit/>
          </a:bodyPr>
          <a:lstStyle/>
          <a:p>
            <a:r>
              <a:rPr lang="ru-RU" sz="4400" dirty="0"/>
              <a:t>Объединенный </a:t>
            </a:r>
            <a:r>
              <a:rPr lang="en-US" sz="4400" dirty="0" err="1"/>
              <a:t>ABC_XYZ_Corr</a:t>
            </a:r>
            <a:r>
              <a:rPr lang="ru-RU" sz="4400" dirty="0"/>
              <a:t>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5D72A-F72B-49D9-980E-E07D7D1B1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49050"/>
            <a:ext cx="5668303" cy="2965497"/>
          </a:xfrm>
        </p:spPr>
        <p:txBody>
          <a:bodyPr>
            <a:normAutofit/>
          </a:bodyPr>
          <a:lstStyle/>
          <a:p>
            <a:r>
              <a:rPr lang="ru-RU" sz="1800" dirty="0"/>
              <a:t>    </a:t>
            </a:r>
            <a:r>
              <a:rPr lang="en-US" sz="1000" dirty="0"/>
              <a:t>ABC_XYZ	absolute	</a:t>
            </a:r>
            <a:r>
              <a:rPr lang="ru-RU" sz="1000" dirty="0"/>
              <a:t>             </a:t>
            </a:r>
            <a:r>
              <a:rPr lang="en-US" sz="1000" dirty="0"/>
              <a:t>proportion	</a:t>
            </a:r>
            <a:r>
              <a:rPr lang="ru-RU" sz="1000" dirty="0"/>
              <a:t>     </a:t>
            </a:r>
            <a:r>
              <a:rPr lang="en-US" sz="1000" dirty="0" err="1"/>
              <a:t>disc_corr</a:t>
            </a:r>
            <a:endParaRPr lang="en-US" sz="1000" dirty="0"/>
          </a:p>
          <a:p>
            <a:r>
              <a:rPr lang="en-US" sz="1000" dirty="0"/>
              <a:t>	AY	22842	</a:t>
            </a:r>
            <a:r>
              <a:rPr lang="ru-RU" sz="1000" dirty="0"/>
              <a:t>	</a:t>
            </a:r>
            <a:r>
              <a:rPr lang="en-US" sz="1000" dirty="0"/>
              <a:t>0.45684</a:t>
            </a:r>
            <a:r>
              <a:rPr lang="ru-RU" sz="1000" dirty="0"/>
              <a:t> </a:t>
            </a:r>
            <a:r>
              <a:rPr lang="en-US" sz="1000" dirty="0"/>
              <a:t>	</a:t>
            </a:r>
            <a:r>
              <a:rPr lang="ru-RU" sz="1000" dirty="0"/>
              <a:t>       </a:t>
            </a:r>
            <a:r>
              <a:rPr lang="en-US" sz="1000" dirty="0"/>
              <a:t>-0.008508</a:t>
            </a:r>
          </a:p>
          <a:p>
            <a:r>
              <a:rPr lang="en-US" sz="1000" dirty="0"/>
              <a:t>	BY	9750	</a:t>
            </a:r>
            <a:r>
              <a:rPr lang="ru-RU" sz="1000" dirty="0"/>
              <a:t>	</a:t>
            </a:r>
            <a:r>
              <a:rPr lang="en-US" sz="1000" dirty="0"/>
              <a:t>0.19500	</a:t>
            </a:r>
            <a:r>
              <a:rPr lang="ru-RU" sz="1000" dirty="0"/>
              <a:t>        </a:t>
            </a:r>
            <a:r>
              <a:rPr lang="en-US" sz="1000" dirty="0"/>
              <a:t>0.009775</a:t>
            </a:r>
          </a:p>
          <a:p>
            <a:r>
              <a:rPr lang="en-US" sz="1000" dirty="0"/>
              <a:t>	</a:t>
            </a:r>
            <a:r>
              <a:rPr lang="ru-RU" sz="1000" dirty="0"/>
              <a:t>С</a:t>
            </a:r>
            <a:r>
              <a:rPr lang="en-US" sz="1000" dirty="0"/>
              <a:t>Y	9701	</a:t>
            </a:r>
            <a:r>
              <a:rPr lang="ru-RU" sz="1000" dirty="0"/>
              <a:t>	</a:t>
            </a:r>
            <a:r>
              <a:rPr lang="en-US" sz="1000" dirty="0"/>
              <a:t>0.19402</a:t>
            </a:r>
            <a:r>
              <a:rPr lang="ru-RU" sz="1000" dirty="0"/>
              <a:t>	        </a:t>
            </a:r>
            <a:r>
              <a:rPr lang="en-US" sz="1000" dirty="0"/>
              <a:t>0.013962</a:t>
            </a:r>
          </a:p>
          <a:p>
            <a:r>
              <a:rPr lang="en-US" sz="1000" dirty="0"/>
              <a:t>	AX	2703	</a:t>
            </a:r>
            <a:r>
              <a:rPr lang="ru-RU" sz="1000" dirty="0"/>
              <a:t>	</a:t>
            </a:r>
            <a:r>
              <a:rPr lang="en-US" sz="1000" dirty="0"/>
              <a:t>0.05406	</a:t>
            </a:r>
            <a:r>
              <a:rPr lang="ru-RU" sz="1000" dirty="0"/>
              <a:t>      </a:t>
            </a:r>
            <a:r>
              <a:rPr lang="en-US" sz="1000" dirty="0"/>
              <a:t>-0.006142</a:t>
            </a:r>
          </a:p>
          <a:p>
            <a:r>
              <a:rPr lang="en-US" sz="1000" dirty="0"/>
              <a:t>	AZ	1451	</a:t>
            </a:r>
            <a:r>
              <a:rPr lang="ru-RU" sz="1000" dirty="0"/>
              <a:t>	</a:t>
            </a:r>
            <a:r>
              <a:rPr lang="en-US" sz="1000" dirty="0"/>
              <a:t>0.02902</a:t>
            </a:r>
            <a:r>
              <a:rPr lang="ru-RU" sz="1000" dirty="0"/>
              <a:t>	      </a:t>
            </a:r>
            <a:r>
              <a:rPr lang="en-US" sz="1000" dirty="0"/>
              <a:t>-0.008980</a:t>
            </a:r>
          </a:p>
          <a:p>
            <a:r>
              <a:rPr lang="en-US" sz="1000" dirty="0"/>
              <a:t>	</a:t>
            </a:r>
            <a:r>
              <a:rPr lang="ru-RU" sz="1000" dirty="0"/>
              <a:t>С</a:t>
            </a:r>
            <a:r>
              <a:rPr lang="en-US" sz="1000" dirty="0"/>
              <a:t>X	1012	</a:t>
            </a:r>
            <a:r>
              <a:rPr lang="ru-RU" sz="1000" dirty="0"/>
              <a:t>	</a:t>
            </a:r>
            <a:r>
              <a:rPr lang="en-US" sz="1000" dirty="0"/>
              <a:t>0.02024	</a:t>
            </a:r>
            <a:r>
              <a:rPr lang="ru-RU" sz="1000" dirty="0"/>
              <a:t>       </a:t>
            </a:r>
            <a:r>
              <a:rPr lang="en-US" sz="1000" dirty="0"/>
              <a:t>0.018179</a:t>
            </a:r>
          </a:p>
          <a:p>
            <a:r>
              <a:rPr lang="en-US" sz="1000" dirty="0"/>
              <a:t>	BX	972	</a:t>
            </a:r>
            <a:r>
              <a:rPr lang="ru-RU" sz="1000" dirty="0"/>
              <a:t>	</a:t>
            </a:r>
            <a:r>
              <a:rPr lang="en-US" sz="1000" dirty="0"/>
              <a:t>0.01944	</a:t>
            </a:r>
            <a:r>
              <a:rPr lang="ru-RU" sz="1000" dirty="0"/>
              <a:t>       </a:t>
            </a:r>
            <a:r>
              <a:rPr lang="en-US" sz="1000" dirty="0"/>
              <a:t>0.012407</a:t>
            </a:r>
          </a:p>
          <a:p>
            <a:r>
              <a:rPr lang="en-US" sz="1000" dirty="0"/>
              <a:t>	BZ	787	</a:t>
            </a:r>
            <a:r>
              <a:rPr lang="ru-RU" sz="1000" dirty="0"/>
              <a:t>	</a:t>
            </a:r>
            <a:r>
              <a:rPr lang="en-US" sz="1000" dirty="0"/>
              <a:t>0.01574</a:t>
            </a:r>
            <a:r>
              <a:rPr lang="ru-RU" sz="1000" dirty="0"/>
              <a:t>	       </a:t>
            </a:r>
            <a:r>
              <a:rPr lang="en-US" sz="1000" dirty="0"/>
              <a:t>0.007987</a:t>
            </a:r>
          </a:p>
          <a:p>
            <a:r>
              <a:rPr lang="en-US" sz="1000" dirty="0"/>
              <a:t>	</a:t>
            </a:r>
            <a:r>
              <a:rPr lang="ru-RU" sz="1000" dirty="0"/>
              <a:t>С</a:t>
            </a:r>
            <a:r>
              <a:rPr lang="en-US" sz="1000" dirty="0"/>
              <a:t>Z	782	</a:t>
            </a:r>
            <a:r>
              <a:rPr lang="ru-RU" sz="1000" dirty="0"/>
              <a:t>	</a:t>
            </a:r>
            <a:r>
              <a:rPr lang="en-US" sz="1000" dirty="0"/>
              <a:t>0.01564</a:t>
            </a:r>
            <a:r>
              <a:rPr lang="ru-RU" sz="1000" dirty="0"/>
              <a:t>	      </a:t>
            </a:r>
            <a:r>
              <a:rPr lang="en-US" sz="1000" dirty="0"/>
              <a:t>0.013657</a:t>
            </a:r>
          </a:p>
          <a:p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A61AE91-BD71-4969-8F74-C6510F68C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98" y="971688"/>
            <a:ext cx="6169980" cy="366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3D500-A50B-422E-BAA0-B81852C94E5D}"/>
              </a:ext>
            </a:extLst>
          </p:cNvPr>
          <p:cNvSpPr txBox="1"/>
          <p:nvPr/>
        </p:nvSpPr>
        <p:spPr>
          <a:xfrm>
            <a:off x="707210" y="4775032"/>
            <a:ext cx="10777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Анализ ABC‑XYZ и чувствительности к скидкам выявил: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80 % ассортимента относится к нестабильным группам Y;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около половины товаров — топовые по выручке (AY), но их реакция на скидки незначительна;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сегменты AX и AY нечувствительны к промо;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максимальный отклик дают группы CY, BX и CX.</a:t>
            </a:r>
          </a:p>
          <a:p>
            <a:pPr algn="just"/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Вывод: массовые скидки неэффективны; приоритет — точечные акции по чувствительным сегментам.</a:t>
            </a:r>
          </a:p>
        </p:txBody>
      </p:sp>
    </p:spTree>
    <p:extLst>
      <p:ext uri="{BB962C8B-B14F-4D97-AF65-F5344CB8AC3E}">
        <p14:creationId xmlns:p14="http://schemas.microsoft.com/office/powerpoint/2010/main" val="203724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0042C-B1B3-4045-8EBE-D2D4E08A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75" y="528222"/>
            <a:ext cx="10058400" cy="252214"/>
          </a:xfrm>
        </p:spPr>
        <p:txBody>
          <a:bodyPr>
            <a:normAutofit fontScale="90000"/>
          </a:bodyPr>
          <a:lstStyle/>
          <a:p>
            <a:r>
              <a:rPr lang="ru-RU" sz="3100" dirty="0"/>
              <a:t>Рекомендации:</a:t>
            </a:r>
            <a:br>
              <a:rPr lang="ru-RU" sz="5400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1B1351-EA6B-4B03-B3CD-DE9003757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975" y="448323"/>
            <a:ext cx="10058400" cy="5524929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1" dirty="0"/>
              <a:t>1. AX (стабильные топы)</a:t>
            </a:r>
          </a:p>
          <a:p>
            <a:pPr algn="just">
              <a:spcBef>
                <a:spcPts val="0"/>
              </a:spcBef>
            </a:pPr>
            <a:r>
              <a:rPr lang="ru-RU" sz="1200" dirty="0"/>
              <a:t>настроить автозаказы через ERP‑систему: при снижении остатка до 20 шт. система формирует заказ поставщику на 100 шт.;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ввести страховой запас 15 % от месячного оборота (например, держать +15 единиц к среднему месячному спросу);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провести повышение цен на 5–7 % без промо‑акций (тестировать 2 недели, замерять динамику продаж);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заменить скидки на бонусы (например, «100 бонусных рублей за покупку AX‑товара»).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1" dirty="0"/>
              <a:t>2. AY (нестабильные топы)</a:t>
            </a:r>
          </a:p>
          <a:p>
            <a:pPr algn="just">
              <a:spcBef>
                <a:spcPts val="0"/>
              </a:spcBef>
            </a:pPr>
            <a:r>
              <a:rPr lang="ru-RU" sz="1200" dirty="0"/>
              <a:t>внедрить сезонный прогноз (на основе исторических данных): в мае‑июне увеличивать запасы на 30 %, в январе‑феврале — снижать на 20 %);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использовать динамическое ценообразование: базовая цена + надбавка 10 % в высокий сезон, −5 % в низкий;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для управления остатками: еженедельный мониторинг оборачиваемости (если &gt;60 дней — пересмотр цены/акций);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вместо скидок — пакетные предложения («AY‑товар + иной товар со скидкой 15 %»).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1" dirty="0"/>
              <a:t>3. BX, CX, CY (чувствительны к скидкам)</a:t>
            </a:r>
          </a:p>
          <a:p>
            <a:pPr algn="just">
              <a:spcBef>
                <a:spcPts val="0"/>
              </a:spcBef>
            </a:pPr>
            <a:r>
              <a:rPr lang="ru-RU" sz="1200" dirty="0"/>
              <a:t>A/B‑тест скидок: группа 1 — скидка 10 %, группа 2 — скидка 15 %, замерять конверсию и маржу за 2 недели;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персональные </a:t>
            </a:r>
            <a:r>
              <a:rPr lang="ru-RU" sz="1200" dirty="0" err="1"/>
              <a:t>промокоды</a:t>
            </a:r>
            <a:r>
              <a:rPr lang="ru-RU" sz="1200" dirty="0"/>
              <a:t>: рассылка 20 % клиентам с историей покупок BX‑товаров («Ваша персональная скидка 12 % действует 3 дня»);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тематические акции: «CY‑товары недели» с баннером на сайте и </a:t>
            </a:r>
            <a:r>
              <a:rPr lang="ru-RU" sz="1200" dirty="0" err="1"/>
              <a:t>push</a:t>
            </a:r>
            <a:r>
              <a:rPr lang="ru-RU" sz="1200" dirty="0"/>
              <a:t>‑уведомлением;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кросс‑продажи: при покупке BX‑товара предлагать CX‑товар со скидкой 20 % (в корзине или после оплаты).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1" dirty="0"/>
              <a:t>4. AZ, BZ, CZ (неэффективные)</a:t>
            </a:r>
          </a:p>
          <a:p>
            <a:pPr algn="just">
              <a:spcBef>
                <a:spcPts val="0"/>
              </a:spcBef>
            </a:pPr>
            <a:r>
              <a:rPr lang="ru-RU" sz="1200" dirty="0"/>
              <a:t>аудит маржи: рассчитать полную себестоимость (включая логистику и хранение) для CZ‑товаров; если маржа &lt;5 % — вывести 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распродажа остатков: скидка 30–40 % на AZ‑товары с остатком &gt;90 дней, срок акции — 2 недели;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/>
              <a:t>замена поставщиков: для BZ‑товаров найти альтернативу с наценкой +15 % (например, локального производителя);</a:t>
            </a:r>
          </a:p>
          <a:p>
            <a:pPr algn="just">
              <a:spcBef>
                <a:spcPts val="0"/>
              </a:spcBef>
            </a:pPr>
            <a:endParaRPr lang="ru-RU" sz="1200" dirty="0"/>
          </a:p>
          <a:p>
            <a:pPr algn="just">
              <a:spcBef>
                <a:spcPts val="0"/>
              </a:spcBef>
            </a:pPr>
            <a:r>
              <a:rPr lang="ru-RU" sz="1200" dirty="0" err="1"/>
              <a:t>перепозиционирование</a:t>
            </a:r>
            <a:r>
              <a:rPr lang="ru-RU" sz="1200" dirty="0"/>
              <a:t>: перевести CZ‑товары в категорию «эксклюзив» (ограниченный выпуск, предзаказ).</a:t>
            </a:r>
          </a:p>
        </p:txBody>
      </p:sp>
    </p:spTree>
    <p:extLst>
      <p:ext uri="{BB962C8B-B14F-4D97-AF65-F5344CB8AC3E}">
        <p14:creationId xmlns:p14="http://schemas.microsoft.com/office/powerpoint/2010/main" val="3648364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169</TotalTime>
  <Words>988</Words>
  <Application>Microsoft Office PowerPoint</Application>
  <PresentationFormat>Широкоэкранный</PresentationFormat>
  <Paragraphs>95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Cambria</vt:lpstr>
      <vt:lpstr>Google Sans Text</vt:lpstr>
      <vt:lpstr>Rockwell</vt:lpstr>
      <vt:lpstr>Rockwell Condensed</vt:lpstr>
      <vt:lpstr>Wingdings</vt:lpstr>
      <vt:lpstr>Дерево</vt:lpstr>
      <vt:lpstr>Анализ ассортиментной матрицы аптечной сети</vt:lpstr>
      <vt:lpstr>Общие метрики за 2023 год </vt:lpstr>
      <vt:lpstr>ABC Анализ по выручке</vt:lpstr>
      <vt:lpstr>XYZ Анализ по количеству</vt:lpstr>
      <vt:lpstr>Корреляция скидки и спроса</vt:lpstr>
      <vt:lpstr>Объединенный ABC_XYZ_Corr Анализ</vt:lpstr>
      <vt:lpstr>Рекомендации: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ассортиментной матрицы аптечной сети</dc:title>
  <dc:creator>User</dc:creator>
  <cp:lastModifiedBy>User</cp:lastModifiedBy>
  <cp:revision>6</cp:revision>
  <dcterms:created xsi:type="dcterms:W3CDTF">2026-01-10T17:17:18Z</dcterms:created>
  <dcterms:modified xsi:type="dcterms:W3CDTF">2026-01-11T16:34:59Z</dcterms:modified>
</cp:coreProperties>
</file>